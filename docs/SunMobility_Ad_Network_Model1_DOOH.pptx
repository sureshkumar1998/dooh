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194560"/>
            <a:ext cx="1463040" cy="63500"/>
          </a:xfrm>
          <a:prstGeom prst="rect">
            <a:avLst/>
          </a:prstGeom>
          <a:solidFill>
            <a:srgbClr val="D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D9A52B"/>
                </a:solidFill>
                <a:latin typeface="Calibri"/>
              </a:rPr>
              <a:t>ADVERTISING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SunMobility Ad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C7D2E0"/>
                </a:solidFill>
                <a:latin typeface="Calibri"/>
              </a:rPr>
              <a:t>Turning every battery swap into an advertising impression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D9A52B"/>
                </a:solidFill>
                <a:latin typeface="Calibri"/>
              </a:rPr>
              <a:t>Model 1 · Why DOOH on our own swap-station network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0800"/>
          </a:xfrm>
          <a:prstGeom prst="rect">
            <a:avLst/>
          </a:prstGeom>
          <a:solidFill>
            <a:srgbClr val="D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9A52B"/>
                </a:solidFill>
                <a:latin typeface="Calibri"/>
              </a:rPr>
              <a:t>SLIDE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The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We operate 1,790+ swap stations across 23 zones (Bengaluru, Delhi, Jaipur, Hyderabad…)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Every station already has a screen the customer looks at during a swap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Each swap = a guaranteed, face-to-screen moment — a captive audience we already own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Today, that screen-time is completely unmonetized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897880"/>
            <a:ext cx="10881360" cy="254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97408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9A52B"/>
                </a:solidFill>
                <a:latin typeface="Calibri"/>
              </a:rPr>
              <a:t>▶  </a:t>
            </a:r>
            <a:r>
              <a:rPr sz="1200" b="0">
                <a:solidFill>
                  <a:srgbClr val="6B7280"/>
                </a:solidFill>
                <a:latin typeface="Calibri"/>
              </a:rPr>
              <a:t>We're sitting on a daily, recurring audience that nobody is currently selling.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SunMobility Ad Network — Model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0800"/>
          </a:xfrm>
          <a:prstGeom prst="rect">
            <a:avLst/>
          </a:prstGeom>
          <a:solidFill>
            <a:srgbClr val="D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9A52B"/>
                </a:solidFill>
                <a:latin typeface="Calibri"/>
              </a:rPr>
              <a:t>SLIDE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What is DOOH?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DOOH = Digital Out-Of-Home advertising — digital screens in physical public spaces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Standard DOOH: malls, airports, transit, retail — viewers are passers-by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Our version: the screen is on our own swap stations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     ◦  </a:t>
            </a:r>
            <a:r>
              <a:rPr sz="1600" b="0">
                <a:solidFill>
                  <a:srgbClr val="6B7280"/>
                </a:solidFill>
                <a:latin typeface="Calibri"/>
              </a:rPr>
              <a:t>The viewer is a customer mid-transaction, not a passer-by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     ◦  </a:t>
            </a:r>
            <a:r>
              <a:rPr sz="1600" b="0">
                <a:solidFill>
                  <a:srgbClr val="6B7280"/>
                </a:solidFill>
                <a:latin typeface="Calibri"/>
              </a:rPr>
              <a:t>We control the hardware, network, schedule, and the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897880"/>
            <a:ext cx="10881360" cy="254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97408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9A52B"/>
                </a:solidFill>
                <a:latin typeface="Calibri"/>
              </a:rPr>
              <a:t>▶  </a:t>
            </a:r>
            <a:r>
              <a:rPr sz="1200" b="0">
                <a:solidFill>
                  <a:srgbClr val="6B7280"/>
                </a:solidFill>
                <a:latin typeface="Calibri"/>
              </a:rPr>
              <a:t>Standard DOOH hopes people glance. Ours sits in front of a captive user.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SunMobility Ad Network — Model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0800"/>
          </a:xfrm>
          <a:prstGeom prst="rect">
            <a:avLst/>
          </a:prstGeom>
          <a:solidFill>
            <a:srgbClr val="D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9A52B"/>
                </a:solidFill>
                <a:latin typeface="Calibri"/>
              </a:rPr>
              <a:t>SLIDE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Our Unique Asset: the captive 3-layer screen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5669280" cy="960120"/>
          </a:xfrm>
          <a:prstGeom prst="rect">
            <a:avLst/>
          </a:prstGeom>
          <a:solidFill>
            <a:srgbClr val="D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56692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E3A5F"/>
                </a:solidFill>
                <a:latin typeface="Calibri"/>
              </a:rPr>
              <a:t>TOP  →  ADVERTISEMENT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80360"/>
            <a:ext cx="5669280" cy="9601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56692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MIDDLE  →  SWAP UI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931920"/>
            <a:ext cx="5669280" cy="960120"/>
          </a:xfrm>
          <a:prstGeom prst="rect">
            <a:avLst/>
          </a:prstGeom>
          <a:solidFill>
            <a:srgbClr val="D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56692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E3A5F"/>
                </a:solidFill>
                <a:latin typeface="Calibri"/>
              </a:rPr>
              <a:t>BOTTOM  →  ADVERTISEMENT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828800"/>
            <a:ext cx="48463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1E3A5F"/>
                </a:solidFill>
                <a:latin typeface="Calibri"/>
              </a:rPr>
              <a:t>Why it works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D9A52B"/>
                </a:solidFill>
                <a:latin typeface="Calibri"/>
              </a:rPr>
              <a:t>•  </a:t>
            </a:r>
            <a:r>
              <a:rPr sz="1500" b="0">
                <a:solidFill>
                  <a:srgbClr val="222B38"/>
                </a:solidFill>
                <a:latin typeface="Calibri"/>
              </a:rPr>
              <a:t>The customer stares at the middle layer to complete the swap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D9A52B"/>
                </a:solidFill>
                <a:latin typeface="Calibri"/>
              </a:rPr>
              <a:t>•  </a:t>
            </a:r>
            <a:r>
              <a:rPr sz="1500" b="0">
                <a:solidFill>
                  <a:srgbClr val="222B38"/>
                </a:solidFill>
                <a:latin typeface="Calibri"/>
              </a:rPr>
              <a:t>Ads (top + bottom) are in their field of view by design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D9A52B"/>
                </a:solidFill>
                <a:latin typeface="Calibri"/>
              </a:rPr>
              <a:t>•  </a:t>
            </a:r>
            <a:r>
              <a:rPr sz="1500" b="0">
                <a:solidFill>
                  <a:srgbClr val="222B38"/>
                </a:solidFill>
                <a:latin typeface="Calibri"/>
              </a:rPr>
              <a:t>Dwell time: 1–4 minutes per swap (1 / 2 / 3 battery packs)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D9A52B"/>
                </a:solidFill>
                <a:latin typeface="Calibri"/>
              </a:rPr>
              <a:t>•  </a:t>
            </a:r>
            <a:r>
              <a:rPr sz="1500" b="0">
                <a:solidFill>
                  <a:srgbClr val="222B38"/>
                </a:solidFill>
                <a:latin typeface="Calibri"/>
              </a:rPr>
              <a:t>Visibility ≈ 100% — not "maybe they looked"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SunMobility Ad Network — Model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0800"/>
          </a:xfrm>
          <a:prstGeom prst="rect">
            <a:avLst/>
          </a:prstGeom>
          <a:solidFill>
            <a:srgbClr val="D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9A52B"/>
                </a:solidFill>
                <a:latin typeface="Calibri"/>
              </a:rPr>
              <a:t>SLIDE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Why We Chose DOOH (strategic fit)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We already own the screens — zero new placement cost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Captive, high-intent audience — EV riders, daily commuters, fleet drivers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Hyper-local targeting — down to a single station or a whole city zone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Recurring footfall — the same customers swap daily, repeated exposure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Real measurement — we have swap data, so impressions are counted, not guessed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897880"/>
            <a:ext cx="10881360" cy="254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97408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9A52B"/>
                </a:solidFill>
                <a:latin typeface="Calibri"/>
              </a:rPr>
              <a:t>▶  </a:t>
            </a:r>
            <a:r>
              <a:rPr sz="1200" b="0">
                <a:solidFill>
                  <a:srgbClr val="6B7280"/>
                </a:solidFill>
                <a:latin typeface="Calibri"/>
              </a:rPr>
              <a:t>The hardest parts of DOOH — screens, audience, location — we already have.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SunMobility Ad Network — Model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0800"/>
          </a:xfrm>
          <a:prstGeom prst="rect">
            <a:avLst/>
          </a:prstGeom>
          <a:solidFill>
            <a:srgbClr val="D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9A52B"/>
                </a:solidFill>
                <a:latin typeface="Calibri"/>
              </a:rPr>
              <a:t>SLIDE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DOOH: Pros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45920"/>
          <a:ext cx="10881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58952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Advantage</a:t>
                      </a:r>
                    </a:p>
                  </a:txBody>
                  <a:tcPr marL="109728" marR="109728" marT="45720" marB="45720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Why it matters for us</a:t>
                      </a:r>
                    </a:p>
                  </a:txBody>
                  <a:tcPr marL="109728" marR="109728" marT="45720" marB="45720" anchor="ctr"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Calibri"/>
                        </a:rPr>
                        <a:t>Own the inventory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No rent to screen owners; ~100% margin on our network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Calibri"/>
                        </a:rPr>
                        <a:t>Captive attention</a:t>
                      </a:r>
                    </a:p>
                  </a:txBody>
                  <a:tcPr marL="109728" marR="109728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Swapper faces the screen — visibility ≈ 100%</a:t>
                      </a:r>
                    </a:p>
                  </a:txBody>
                  <a:tcPr marL="109728" marR="109728" marT="45720" marB="45720"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Calibri"/>
                        </a:rPr>
                        <a:t>Local + zonal targeting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Sell a single station, a city, or the whole fleet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Calibri"/>
                        </a:rPr>
                        <a:t>Brand-safe &amp; premium</a:t>
                      </a:r>
                    </a:p>
                  </a:txBody>
                  <a:tcPr marL="109728" marR="109728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No fraud, no bots, no ad-blockers — real screen, real person</a:t>
                      </a:r>
                    </a:p>
                  </a:txBody>
                  <a:tcPr marL="109728" marR="109728" marT="45720" marB="45720"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Calibri"/>
                        </a:rPr>
                        <a:t>Data we own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Swap counts → defensible impression numbers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Calibri"/>
                        </a:rPr>
                        <a:t>Repeat exposure</a:t>
                      </a:r>
                    </a:p>
                  </a:txBody>
                  <a:tcPr marL="109728" marR="109728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Daily swappers see campaigns multiple times</a:t>
                      </a:r>
                    </a:p>
                  </a:txBody>
                  <a:tcPr marL="109728" marR="109728" marT="45720" marB="45720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SunMobility Ad Network — Model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0800"/>
          </a:xfrm>
          <a:prstGeom prst="rect">
            <a:avLst/>
          </a:prstGeom>
          <a:solidFill>
            <a:srgbClr val="D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9A52B"/>
                </a:solidFill>
                <a:latin typeface="Calibri"/>
              </a:rPr>
              <a:t>SLIDE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DOOH: Cons (and how we mitigate)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4592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667512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Limitation</a:t>
                      </a:r>
                    </a:p>
                  </a:txBody>
                  <a:tcPr marL="109728" marR="109728" marT="45720" marB="45720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Our mitigation</a:t>
                      </a:r>
                    </a:p>
                  </a:txBody>
                  <a:tcPr marL="109728" marR="109728" marT="45720" marB="45720" anchor="ctr"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Calibri"/>
                        </a:rPr>
                        <a:t>Limited screen space (top/bottom only)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Cap ads at ≤60s; rotate by slot &amp; schedule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Calibri"/>
                        </a:rPr>
                        <a:t>Audience capped by footfall</a:t>
                      </a:r>
                    </a:p>
                  </a:txBody>
                  <a:tcPr marL="109728" marR="109728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1,790 stations + growing — scale by network size</a:t>
                      </a:r>
                    </a:p>
                  </a:txBody>
                  <a:tcPr marL="109728" marR="109728" marT="45720" marB="45720"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Calibri"/>
                        </a:rPr>
                        <a:t>No clicks / direct response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Sell on reach &amp; branding; add QR codes for response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Calibri"/>
                        </a:rPr>
                        <a:t>Content operations overhead</a:t>
                      </a:r>
                    </a:p>
                  </a:txBody>
                  <a:tcPr marL="109728" marR="109728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We built the dashboard: upload, target, schedule, preview</a:t>
                      </a:r>
                    </a:p>
                  </a:txBody>
                  <a:tcPr marL="109728" marR="109728" marT="45720" marB="45720"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Calibri"/>
                        </a:rPr>
                        <a:t>Proving value to advertisers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Swap-data impressions — auditable, not estimated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5897880"/>
            <a:ext cx="10881360" cy="254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97408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9A52B"/>
                </a:solidFill>
                <a:latin typeface="Calibri"/>
              </a:rPr>
              <a:t>▶  </a:t>
            </a:r>
            <a:r>
              <a:rPr sz="1200" b="0">
                <a:solidFill>
                  <a:srgbClr val="6B7280"/>
                </a:solidFill>
                <a:latin typeface="Calibri"/>
              </a:rPr>
              <a:t>Each weakness is handled by the platform we already built.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SunMobility Ad Network — Model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0800"/>
          </a:xfrm>
          <a:prstGeom prst="rect">
            <a:avLst/>
          </a:prstGeom>
          <a:solidFill>
            <a:srgbClr val="D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9A52B"/>
                </a:solidFill>
                <a:latin typeface="Calibri"/>
              </a:rPr>
              <a:t>SLIDE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The Alternative: CDN + Ad Agency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Model: outsource — push content via a third-party CDN, let an ad agency / network sell &amp; serve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Agency brings advertisers and ad-serving technology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CDN distributes creative to the endpoints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We take a revenue share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897880"/>
            <a:ext cx="10881360" cy="254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97408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9A52B"/>
                </a:solidFill>
                <a:latin typeface="Calibri"/>
              </a:rPr>
              <a:t>▶  </a:t>
            </a:r>
            <a:r>
              <a:rPr sz="1200" b="0">
                <a:solidFill>
                  <a:srgbClr val="6B7280"/>
                </a:solidFill>
                <a:latin typeface="Calibri"/>
              </a:rPr>
              <a:t>The "easy" route: let someone else run the ad business and pay us a cut.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SunMobility Ad Network — Model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0800"/>
          </a:xfrm>
          <a:prstGeom prst="rect">
            <a:avLst/>
          </a:prstGeom>
          <a:solidFill>
            <a:srgbClr val="D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9A52B"/>
                </a:solidFill>
                <a:latin typeface="Calibri"/>
              </a:rPr>
              <a:t>SLIDE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CDN + Ad Agency: Pros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Fast to start — no platform to build; agency has advertiser relationships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Outsourced sales — agency finds the buyers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Mature ad-serving tech — targeting, rotation, reporting out of the box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Programmatic demand — access to large ad exchanges / fill rates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897880"/>
            <a:ext cx="10881360" cy="254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97408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9A52B"/>
                </a:solidFill>
                <a:latin typeface="Calibri"/>
              </a:rPr>
              <a:t>▶  </a:t>
            </a:r>
            <a:r>
              <a:rPr sz="1200" b="0">
                <a:solidFill>
                  <a:srgbClr val="6B7280"/>
                </a:solidFill>
                <a:latin typeface="Calibri"/>
              </a:rPr>
              <a:t>Lower upfront effort — you plug in and collect a share.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SunMobility Ad Network — Model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0800"/>
          </a:xfrm>
          <a:prstGeom prst="rect">
            <a:avLst/>
          </a:prstGeom>
          <a:solidFill>
            <a:srgbClr val="D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9A52B"/>
                </a:solidFill>
                <a:latin typeface="Calibri"/>
              </a:rPr>
              <a:t>SLIDE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CDN + Ad Agency: Cons (why it does not fit us)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45920"/>
          <a:ext cx="10881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7724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Problem</a:t>
                      </a:r>
                    </a:p>
                  </a:txBody>
                  <a:tcPr marL="109728" marR="109728" marT="45720" marB="45720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 marL="109728" marR="109728" marT="45720" marB="45720" anchor="ctr"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Calibri"/>
                        </a:rPr>
                        <a:t>Revenue share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Agency + CDN take 30–50%+ — we keep a fraction of our own audience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Calibri"/>
                        </a:rPr>
                        <a:t>We lose the data</a:t>
                      </a:r>
                    </a:p>
                  </a:txBody>
                  <a:tcPr marL="109728" marR="109728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Agency owns impressions/reporting; we cannot prove our captive value</a:t>
                      </a:r>
                    </a:p>
                  </a:txBody>
                  <a:tcPr marL="109728" marR="109728" marT="45720" marB="45720"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Calibri"/>
                        </a:rPr>
                        <a:t>Generic measurement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Online CPM / viewability ignores our swap-dwell advantage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Calibri"/>
                        </a:rPr>
                        <a:t>Brand control risk</a:t>
                      </a:r>
                    </a:p>
                  </a:txBody>
                  <a:tcPr marL="109728" marR="109728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Third-party ads could clash with our EV / brand context</a:t>
                      </a:r>
                    </a:p>
                  </a:txBody>
                  <a:tcPr marL="109728" marR="109728" marT="45720" marB="45720"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Calibri"/>
                        </a:rPr>
                        <a:t>Wrong model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CDN/agency is built for web &amp; app ads, not a captive swap screen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Calibri"/>
                        </a:rPr>
                        <a:t>Dependency</a:t>
                      </a:r>
                    </a:p>
                  </a:txBody>
                  <a:tcPr marL="109728" marR="109728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Monetization hostage to an external partner’s priorities</a:t>
                      </a:r>
                    </a:p>
                  </a:txBody>
                  <a:tcPr marL="109728" marR="109728" marT="45720" marB="45720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SunMobility Ad Network — Model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0800"/>
          </a:xfrm>
          <a:prstGeom prst="rect">
            <a:avLst/>
          </a:prstGeom>
          <a:solidFill>
            <a:srgbClr val="D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9A52B"/>
                </a:solidFill>
                <a:latin typeface="Calibri"/>
              </a:rPr>
              <a:t>SLIDE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Side-by-Side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45920"/>
          <a:ext cx="10881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297680"/>
                <a:gridCol w="38404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09728" marR="109728" marT="45720" marB="45720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Own DOOH (chosen)</a:t>
                      </a:r>
                    </a:p>
                  </a:txBody>
                  <a:tcPr marL="109728" marR="109728" marT="45720" marB="45720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CDN + Ad Agency</a:t>
                      </a:r>
                    </a:p>
                  </a:txBody>
                  <a:tcPr marL="109728" marR="109728" marT="45720" marB="45720" anchor="ctr"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Calibri"/>
                        </a:rPr>
                        <a:t>Setup effort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Higher — already built ✔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Calibri"/>
                        </a:rPr>
                        <a:t>Revenue kept</a:t>
                      </a:r>
                    </a:p>
                  </a:txBody>
                  <a:tcPr marL="109728" marR="109728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~100%</a:t>
                      </a:r>
                    </a:p>
                  </a:txBody>
                  <a:tcPr marL="109728" marR="109728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50–70%</a:t>
                      </a:r>
                    </a:p>
                  </a:txBody>
                  <a:tcPr marL="109728" marR="109728" marT="45720" marB="45720"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Calibri"/>
                        </a:rPr>
                        <a:t>Audience data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We own it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Agency owns it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Calibri"/>
                        </a:rPr>
                        <a:t>Measurement</a:t>
                      </a:r>
                    </a:p>
                  </a:txBody>
                  <a:tcPr marL="109728" marR="109728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Swap-driven, real</a:t>
                      </a:r>
                    </a:p>
                  </a:txBody>
                  <a:tcPr marL="109728" marR="109728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Generic CPM</a:t>
                      </a:r>
                    </a:p>
                  </a:txBody>
                  <a:tcPr marL="109728" marR="109728" marT="45720" marB="45720"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Calibri"/>
                        </a:rPr>
                        <a:t>Brand control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Full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Calibri"/>
                        </a:rPr>
                        <a:t>Best for</a:t>
                      </a:r>
                    </a:p>
                  </a:txBody>
                  <a:tcPr marL="109728" marR="109728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Captive physical screens</a:t>
                      </a:r>
                    </a:p>
                  </a:txBody>
                  <a:tcPr marL="109728" marR="109728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Web / app inventory</a:t>
                      </a:r>
                    </a:p>
                  </a:txBody>
                  <a:tcPr marL="109728" marR="109728" marT="45720" marB="45720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5897880"/>
            <a:ext cx="10881360" cy="254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97408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9A52B"/>
                </a:solidFill>
                <a:latin typeface="Calibri"/>
              </a:rPr>
              <a:t>▶  </a:t>
            </a:r>
            <a:r>
              <a:rPr sz="1200" b="0">
                <a:solidFill>
                  <a:srgbClr val="6B7280"/>
                </a:solidFill>
                <a:latin typeface="Calibri"/>
              </a:rPr>
              <a:t>For a network we own with a captive audience, in-house wins on every axis that matters.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SunMobility Ad Network — Model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0800"/>
          </a:xfrm>
          <a:prstGeom prst="rect">
            <a:avLst/>
          </a:prstGeom>
          <a:solidFill>
            <a:srgbClr val="D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9A52B"/>
                </a:solidFill>
                <a:latin typeface="Calibri"/>
              </a:rPr>
              <a:t>SLIDE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Why In-House DOOH Wins for 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We own the audience — keep the full value, don’t rent it out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We own the data — swaps → impressions nobody else can measure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Our screen is captive, not incidental — a premium we can charge for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We already built the platform: upload, target (zone/station), schedule, preview, monitor, proof-of-play logs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897880"/>
            <a:ext cx="10881360" cy="254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97408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9A52B"/>
                </a:solidFill>
                <a:latin typeface="Calibri"/>
              </a:rPr>
              <a:t>▶  </a:t>
            </a:r>
            <a:r>
              <a:rPr sz="1200" b="0">
                <a:solidFill>
                  <a:srgbClr val="6B7280"/>
                </a:solidFill>
                <a:latin typeface="Calibri"/>
              </a:rPr>
              <a:t>The build cost is behind us; the margin advantage compounds forever.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SunMobility Ad Network — Model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0800"/>
          </a:xfrm>
          <a:prstGeom prst="rect">
            <a:avLst/>
          </a:prstGeom>
          <a:solidFill>
            <a:srgbClr val="D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9A52B"/>
                </a:solidFill>
                <a:latin typeface="Calibri"/>
              </a:rPr>
              <a:t>SLIDE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Our Differentiator: impressions from real swaps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No "visibility factor" guesswork like billboards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impressions = total swap dwell-time ÷ ad loop length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Driven by actual swap counts and battery-pack count per station, per day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Auto-scales: busy day = more impressions, no manual tuning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Advertiser sees: swaps · avg time-at-screen · guaranteed full plays · impressions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897880"/>
            <a:ext cx="10881360" cy="254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97408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9A52B"/>
                </a:solidFill>
                <a:latin typeface="Calibri"/>
              </a:rPr>
              <a:t>▶  </a:t>
            </a:r>
            <a:r>
              <a:rPr sz="1200" b="0">
                <a:solidFill>
                  <a:srgbClr val="6B7280"/>
                </a:solidFill>
                <a:latin typeface="Calibri"/>
              </a:rPr>
              <a:t>We don't estimate eyeballs — we count swaps, and every swap is a face on the screen.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SunMobility Ad Network — Model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0800"/>
          </a:xfrm>
          <a:prstGeom prst="rect">
            <a:avLst/>
          </a:prstGeom>
          <a:solidFill>
            <a:srgbClr val="D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9A52B"/>
                </a:solidFill>
                <a:latin typeface="Calibri"/>
              </a:rPr>
              <a:t>SLIDE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Closing /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A fully owned, measurable, captive-audience ad network across 1,790+ stations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Platform live: upload → target by zone/station → schedule → preview → monitor → prove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Next: onboard pilot advertisers in 2–3 high-footfall zones; report real impressions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Ask: pilot approval / budget / advertiser introductions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897880"/>
            <a:ext cx="10881360" cy="254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97408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9A52B"/>
                </a:solidFill>
                <a:latin typeface="Calibri"/>
              </a:rPr>
              <a:t>▶  </a:t>
            </a:r>
            <a:r>
              <a:rPr sz="1200" b="0">
                <a:solidFill>
                  <a:srgbClr val="6B7280"/>
                </a:solidFill>
                <a:latin typeface="Calibri"/>
              </a:rPr>
              <a:t>We have the screens, the audience, the platform, and the proof — let’s start selling.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SunMobility Ad Network — Model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