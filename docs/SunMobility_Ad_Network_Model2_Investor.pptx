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94560"/>
            <a:ext cx="146304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9A52B"/>
                </a:solidFill>
                <a:latin typeface="Calibri"/>
              </a:rPr>
              <a:t>INVESTOR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SunMobility Ad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7D2E0"/>
                </a:solidFill>
                <a:latin typeface="Calibri"/>
              </a:rPr>
              <a:t>A captive-audience advertising network built on India’s EV battery-swap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A52B"/>
                </a:solidFill>
                <a:latin typeface="Calibri"/>
              </a:rPr>
              <a:t>Model 2 · Investor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Problem &amp;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EV battery-swap stations are high-traffic, daily-use touchpoints — but their screen time earns nothing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Brands struggle to reach urban EV riders, gig &amp; fleet drivers with measurable, brand-safe media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Online ads suffer fraud, ad-blockers and "did anyone really see it?" doubt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Billboards/DOOH can’t prove who actually looked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There’s an unmonetized, captive, measurable audience hiding in plain 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A premium audience nobody is selling, on infrastructure we already operate.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Asset: a captive network we already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920240"/>
            <a:ext cx="2537460" cy="1828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20240"/>
            <a:ext cx="253746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2331720"/>
            <a:ext cx="25374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D9A52B"/>
                </a:solidFill>
                <a:latin typeface="Calibri"/>
              </a:rPr>
              <a:t>1,790+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063240"/>
            <a:ext cx="253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Swap stations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5284" y="1920240"/>
            <a:ext cx="2537460" cy="1828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5284" y="1920240"/>
            <a:ext cx="253746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5284" y="2331720"/>
            <a:ext cx="25374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D9A52B"/>
                </a:solidFill>
                <a:latin typeface="Calibri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5284" y="3063240"/>
            <a:ext cx="253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City zones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1920240"/>
            <a:ext cx="2537460" cy="1828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1920240"/>
            <a:ext cx="253746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331720"/>
            <a:ext cx="25374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D9A52B"/>
                </a:solidFill>
                <a:latin typeface="Calibri"/>
              </a:rPr>
              <a:t>1–4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063240"/>
            <a:ext cx="253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Captive dwell / swap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844" y="1920240"/>
            <a:ext cx="2537460" cy="18288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8844" y="1920240"/>
            <a:ext cx="253746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8844" y="2331720"/>
            <a:ext cx="25374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D9A52B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8844" y="3063240"/>
            <a:ext cx="25374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Inventory owned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1148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Calibri"/>
              </a:rPr>
              <a:t>Every swap puts a rider in front of our screen for minutes — a recurring, </a:t>
            </a:r>
            <a:r>
              <a:rPr sz="1500" b="1">
                <a:solidFill>
                  <a:srgbClr val="1E3A5F"/>
                </a:solidFill>
                <a:latin typeface="Calibri"/>
              </a:rPr>
              <a:t>face-to-screen</a:t>
            </a:r>
            <a:r>
              <a:rPr sz="1500" b="0">
                <a:solidFill>
                  <a:srgbClr val="222B38"/>
                </a:solidFill>
                <a:latin typeface="Calibri"/>
              </a:rPr>
              <a:t> audience that grows as the EV network grows.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We don’t have to build an audience — we already serve one every 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Solution: an owned, measurable ad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 3-layer screen: swap UI in the middle, ads top &amp; bottom — captive by design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 full ad-management dashboard: upload → target (zone/station) → schedule → preview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Live fleet monitoring + proof-of-play logs (which ad ran, where, when)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Impressions computed from real swap data — not estimated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Built and running today on the existing station network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The product is live — this is execution, not a concept.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EV two/three-wheeler adoption is scaling fast in India — swap volume rising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DOOH is the fastest-growing ad medium; advertisers want brand-safe, measurable screens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Retail-media &amp; "own your audience" models are booming globally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Our station network is already deployed — first-mover on swap-screen media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EV growth + DOOH growth + an owned network = a rare timing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Advertiser picks a zone or specific stations and a campaign schedule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Creative (≤60s) is uploaded, placed in a screen slot, previewed on a real CCU layout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Stations pull content automatically; the player rotates ads around the swap UI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Every swap’s dwell time → impressions; proof-of-play confirms delivery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Advertiser gets a clear report: swaps · time-at-screen · full plays · impressions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Differentiator: impressions from real swaps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E3A5F"/>
                </a:solidFill>
                <a:latin typeface="Calibri"/>
              </a:rPr>
              <a:t>impressions = total swap dwell-time  ÷  ad loop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No billboard-style "visibility factor" guesswork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Driven by actual swap counts and battery-pack count (1/2/3) per station, per day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Captive screen → visibility ≈ 100%; auto-scales with footfall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Auditable &amp; defensible — we show the inputs, not a mystery CPM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A measurement advantage no billboard or web-ad network can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Business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Own the inventory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No screen rent — margin stays in-house (~100% of media revenue)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Sell by geography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Single station · city zone · whole fleet — flexible packages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Premium CPM justified by captive, measurable, brand-safe attention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Scales with network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Every new swap station adds ad inventory at ~zero extra cost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Recurring demand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Campaign renewals from proven, reported impressions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In-House vs. Outsourcing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374903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Own platform (us)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CDN + Ad Agency</a:t>
                      </a:r>
                    </a:p>
                  </a:txBody>
                  <a:tcPr marL="109728" marR="109728" marT="45720" marB="45720" anchor="ctr"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Revenue kept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~100%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50–70%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Audience data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We own it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Agency owns it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Measurement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Swap-driven, real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Generic CPM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Brand control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109728" marR="109728" marT="45720" marB="45720"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Calibri"/>
                        </a:rPr>
                        <a:t>Fit for captive screen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Purpose-built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Calibri"/>
                        </a:rPr>
                        <a:t>Built for web/app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We keep the margin, the data, and the measurement edge by owning the stack.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Traction: the platform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Live integration with the station fleet API (1,790+ stations, 23 zones)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Auto-authenticating, self-refreshing — no manual ops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Ad dashboard: upload, 8:3 spec enforcement, zone/station targeting, scheduling, panel placement, preview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Fleet monitor (online/offline + ads-running status) and proof-of-play logs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Impressions engine validated against real swap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De-risked: the hard engineering is done and running.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Illustrative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A 130-swap/day station, one 60s ad: ≈ 210 impressions/day — every swapper sees ≥1 full play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Scales by station count: hundreds of stations × daily swaps = millions of monthly impressions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Inventory grows for free with each new swap station deployed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Premium CPM × owned inventory × ~100% margin = high-leverage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897880"/>
            <a:ext cx="10881360" cy="254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9740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▶  </a:t>
            </a:r>
            <a:r>
              <a:rPr sz="1200" b="0">
                <a:solidFill>
                  <a:srgbClr val="6B7280"/>
                </a:solidFill>
                <a:latin typeface="Calibri"/>
              </a:rPr>
              <a:t>Illustrative — final numbers from pilot-zone measurement.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9A52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Phase 1 — Pilot: 2–3 high-footfall zones, onboard anchor advertisers, report real impressions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Phase 2 — Productize: self-serve campaign booking by zone/station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Phase 3 — Scale: roll out fleet-wide; pursue agency &amp; brand direct deals on proven data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D9A52B"/>
                </a:solidFill>
                <a:latin typeface="Calibri"/>
              </a:rPr>
              <a:t>•  </a:t>
            </a:r>
            <a:r>
              <a:rPr sz="1600" b="0">
                <a:solidFill>
                  <a:srgbClr val="222B38"/>
                </a:solidFill>
                <a:latin typeface="Calibri"/>
              </a:rPr>
              <a:t>Land-and-expand: pilot results → renewals &amp; larger geographies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1463040" cy="63500"/>
          </a:xfrm>
          <a:prstGeom prst="rect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Ask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789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D9A52B"/>
                </a:solidFill>
                <a:latin typeface="Calibri"/>
              </a:rPr>
              <a:t>•  </a:t>
            </a:r>
            <a:r>
              <a:rPr sz="1800" b="0">
                <a:solidFill>
                  <a:srgbClr val="E5EAF1"/>
                </a:solidFill>
                <a:latin typeface="Calibri"/>
              </a:rPr>
              <a:t>Approve a pilot across 2–3 zones to prove revenue per station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D9A52B"/>
                </a:solidFill>
                <a:latin typeface="Calibri"/>
              </a:rPr>
              <a:t>•  </a:t>
            </a:r>
            <a:r>
              <a:rPr sz="1800" b="0">
                <a:solidFill>
                  <a:srgbClr val="E5EAF1"/>
                </a:solidFill>
                <a:latin typeface="Calibri"/>
              </a:rPr>
              <a:t>Vision: India’s largest captive, measurable EV-rider ad network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D9A52B"/>
                </a:solidFill>
                <a:latin typeface="Calibri"/>
              </a:rPr>
              <a:t>•  </a:t>
            </a:r>
            <a:r>
              <a:rPr sz="1800" b="0">
                <a:solidFill>
                  <a:srgbClr val="E5EAF1"/>
                </a:solidFill>
                <a:latin typeface="Calibri"/>
              </a:rPr>
              <a:t>Own the screens, own the data, own the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9A52B"/>
                </a:solidFill>
                <a:latin typeface="Calibri"/>
              </a:rPr>
              <a:t>SunMobility Ad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SunMobility Ad Network — Model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